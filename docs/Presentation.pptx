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oppins Bold" charset="1" panose="00000800000000000000"/>
      <p:regular r:id="rId14"/>
    </p:embeddedFont>
    <p:embeddedFont>
      <p:font typeface="Montserrat Bold" charset="1" panose="00000800000000000000"/>
      <p:regular r:id="rId15"/>
    </p:embeddedFont>
    <p:embeddedFont>
      <p:font typeface="Poppins Medium" charset="1" panose="00000600000000000000"/>
      <p:regular r:id="rId16"/>
    </p:embeddedFont>
    <p:embeddedFont>
      <p:font typeface="Poppins" charset="1" panose="00000500000000000000"/>
      <p:regular r:id="rId17"/>
    </p:embeddedFont>
    <p:embeddedFont>
      <p:font typeface="Poppins Semi-Bold" charset="1" panose="000007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127.0.0.1:5000"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4464880" y="-1106292"/>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12651" y="7504025"/>
            <a:ext cx="6502191" cy="5565951"/>
          </a:xfrm>
          <a:custGeom>
            <a:avLst/>
            <a:gdLst/>
            <a:ahLst/>
            <a:cxnLst/>
            <a:rect r="r" b="b" t="t" l="l"/>
            <a:pathLst>
              <a:path h="5565951" w="6502191">
                <a:moveTo>
                  <a:pt x="0" y="0"/>
                </a:moveTo>
                <a:lnTo>
                  <a:pt x="6502191" y="0"/>
                </a:lnTo>
                <a:lnTo>
                  <a:pt x="6502191" y="5565950"/>
                </a:lnTo>
                <a:lnTo>
                  <a:pt x="0" y="5565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72393" y="8088707"/>
            <a:ext cx="4541060" cy="2339185"/>
          </a:xfrm>
          <a:custGeom>
            <a:avLst/>
            <a:gdLst/>
            <a:ahLst/>
            <a:cxnLst/>
            <a:rect r="r" b="b" t="t" l="l"/>
            <a:pathLst>
              <a:path h="2339185" w="4541060">
                <a:moveTo>
                  <a:pt x="0" y="0"/>
                </a:moveTo>
                <a:lnTo>
                  <a:pt x="4541060" y="0"/>
                </a:lnTo>
                <a:lnTo>
                  <a:pt x="4541060" y="2339186"/>
                </a:lnTo>
                <a:lnTo>
                  <a:pt x="0" y="2339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16967" y="-140893"/>
            <a:ext cx="4541060" cy="2339185"/>
          </a:xfrm>
          <a:custGeom>
            <a:avLst/>
            <a:gdLst/>
            <a:ahLst/>
            <a:cxnLst/>
            <a:rect r="r" b="b" t="t" l="l"/>
            <a:pathLst>
              <a:path h="2339185" w="4541060">
                <a:moveTo>
                  <a:pt x="0" y="0"/>
                </a:moveTo>
                <a:lnTo>
                  <a:pt x="4541059" y="0"/>
                </a:lnTo>
                <a:lnTo>
                  <a:pt x="4541059" y="2339186"/>
                </a:lnTo>
                <a:lnTo>
                  <a:pt x="0" y="23391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6" id="6"/>
          <p:cNvSpPr/>
          <p:nvPr/>
        </p:nvSpPr>
        <p:spPr>
          <a:xfrm>
            <a:off x="-1943723" y="9744413"/>
            <a:ext cx="6138532" cy="0"/>
          </a:xfrm>
          <a:prstGeom prst="line">
            <a:avLst/>
          </a:prstGeom>
          <a:ln cap="flat" w="38100">
            <a:solidFill>
              <a:srgbClr val="1E274D"/>
            </a:solidFill>
            <a:prstDash val="solid"/>
            <a:headEnd type="none" len="sm" w="sm"/>
            <a:tailEnd type="oval" len="lg" w="lg"/>
          </a:ln>
        </p:spPr>
      </p:sp>
      <p:sp>
        <p:nvSpPr>
          <p:cNvPr name="AutoShape 7" id="7"/>
          <p:cNvSpPr/>
          <p:nvPr/>
        </p:nvSpPr>
        <p:spPr>
          <a:xfrm flipV="true">
            <a:off x="13261777" y="542587"/>
            <a:ext cx="6969946" cy="0"/>
          </a:xfrm>
          <a:prstGeom prst="line">
            <a:avLst/>
          </a:prstGeom>
          <a:ln cap="flat" w="38100">
            <a:solidFill>
              <a:srgbClr val="1E274D"/>
            </a:solidFill>
            <a:prstDash val="solid"/>
            <a:headEnd type="oval" len="lg" w="lg"/>
            <a:tailEnd type="none" len="sm" w="sm"/>
          </a:ln>
        </p:spPr>
      </p:sp>
      <p:grpSp>
        <p:nvGrpSpPr>
          <p:cNvPr name="Group 8" id="8"/>
          <p:cNvGrpSpPr/>
          <p:nvPr/>
        </p:nvGrpSpPr>
        <p:grpSpPr>
          <a:xfrm rot="0">
            <a:off x="5600469" y="5707627"/>
            <a:ext cx="7087062" cy="808131"/>
            <a:chOff x="0" y="0"/>
            <a:chExt cx="1458243" cy="166282"/>
          </a:xfrm>
        </p:grpSpPr>
        <p:sp>
          <p:nvSpPr>
            <p:cNvPr name="Freeform 9" id="9"/>
            <p:cNvSpPr/>
            <p:nvPr/>
          </p:nvSpPr>
          <p:spPr>
            <a:xfrm flipH="false" flipV="false" rot="0">
              <a:off x="0" y="0"/>
              <a:ext cx="1458243" cy="166282"/>
            </a:xfrm>
            <a:custGeom>
              <a:avLst/>
              <a:gdLst/>
              <a:ahLst/>
              <a:cxnLst/>
              <a:rect r="r" b="b" t="t" l="l"/>
              <a:pathLst>
                <a:path h="166282" w="1458243">
                  <a:moveTo>
                    <a:pt x="83141" y="0"/>
                  </a:moveTo>
                  <a:lnTo>
                    <a:pt x="1375102" y="0"/>
                  </a:lnTo>
                  <a:cubicBezTo>
                    <a:pt x="1397153" y="0"/>
                    <a:pt x="1418300" y="8759"/>
                    <a:pt x="1433892" y="24351"/>
                  </a:cubicBezTo>
                  <a:cubicBezTo>
                    <a:pt x="1449484" y="39943"/>
                    <a:pt x="1458243" y="61091"/>
                    <a:pt x="1458243" y="83141"/>
                  </a:cubicBezTo>
                  <a:lnTo>
                    <a:pt x="1458243" y="83141"/>
                  </a:lnTo>
                  <a:cubicBezTo>
                    <a:pt x="1458243" y="105191"/>
                    <a:pt x="1449484" y="126339"/>
                    <a:pt x="1433892" y="141931"/>
                  </a:cubicBezTo>
                  <a:cubicBezTo>
                    <a:pt x="1418300" y="157523"/>
                    <a:pt x="1397153" y="166282"/>
                    <a:pt x="1375102" y="166282"/>
                  </a:cubicBezTo>
                  <a:lnTo>
                    <a:pt x="83141" y="166282"/>
                  </a:lnTo>
                  <a:cubicBezTo>
                    <a:pt x="61091" y="166282"/>
                    <a:pt x="39943" y="157523"/>
                    <a:pt x="24351" y="141931"/>
                  </a:cubicBezTo>
                  <a:cubicBezTo>
                    <a:pt x="8759" y="126339"/>
                    <a:pt x="0" y="105191"/>
                    <a:pt x="0" y="83141"/>
                  </a:cubicBezTo>
                  <a:lnTo>
                    <a:pt x="0" y="83141"/>
                  </a:lnTo>
                  <a:cubicBezTo>
                    <a:pt x="0" y="61091"/>
                    <a:pt x="8759" y="39943"/>
                    <a:pt x="24351" y="24351"/>
                  </a:cubicBezTo>
                  <a:cubicBezTo>
                    <a:pt x="39943" y="8759"/>
                    <a:pt x="61091" y="0"/>
                    <a:pt x="83141" y="0"/>
                  </a:cubicBezTo>
                  <a:close/>
                </a:path>
              </a:pathLst>
            </a:custGeom>
            <a:solidFill>
              <a:srgbClr val="4F5393"/>
            </a:solidFill>
            <a:ln w="38100" cap="rnd">
              <a:solidFill>
                <a:srgbClr val="4F5393"/>
              </a:solidFill>
              <a:prstDash val="solid"/>
              <a:round/>
            </a:ln>
          </p:spPr>
        </p:sp>
        <p:sp>
          <p:nvSpPr>
            <p:cNvPr name="TextBox 10" id="10"/>
            <p:cNvSpPr txBox="true"/>
            <p:nvPr/>
          </p:nvSpPr>
          <p:spPr>
            <a:xfrm>
              <a:off x="0" y="-66675"/>
              <a:ext cx="1458243" cy="232957"/>
            </a:xfrm>
            <a:prstGeom prst="rect">
              <a:avLst/>
            </a:prstGeom>
          </p:spPr>
          <p:txBody>
            <a:bodyPr anchor="ctr" rtlCol="false" tIns="50800" lIns="50800" bIns="50800" rIns="50800"/>
            <a:lstStyle/>
            <a:p>
              <a:pPr algn="ctr">
                <a:lnSpc>
                  <a:spcPts val="3359"/>
                </a:lnSpc>
                <a:spcBef>
                  <a:spcPct val="0"/>
                </a:spcBef>
              </a:pPr>
              <a:r>
                <a:rPr lang="en-US" b="true" sz="2399">
                  <a:solidFill>
                    <a:srgbClr val="FFFFFF"/>
                  </a:solidFill>
                  <a:latin typeface="Poppins Bold"/>
                  <a:ea typeface="Poppins Bold"/>
                  <a:cs typeface="Poppins Bold"/>
                  <a:sym typeface="Poppins Bold"/>
                </a:rPr>
                <a:t>CS-401: SOFTWARE ENGINEERING &amp; DESIGN</a:t>
              </a:r>
            </a:p>
          </p:txBody>
        </p:sp>
      </p:grpSp>
      <p:sp>
        <p:nvSpPr>
          <p:cNvPr name="TextBox 11" id="11"/>
          <p:cNvSpPr txBox="true"/>
          <p:nvPr/>
        </p:nvSpPr>
        <p:spPr>
          <a:xfrm rot="0">
            <a:off x="2251569" y="2147045"/>
            <a:ext cx="13784861" cy="2686048"/>
          </a:xfrm>
          <a:prstGeom prst="rect">
            <a:avLst/>
          </a:prstGeom>
        </p:spPr>
        <p:txBody>
          <a:bodyPr anchor="t" rtlCol="false" tIns="0" lIns="0" bIns="0" rIns="0">
            <a:spAutoFit/>
          </a:bodyPr>
          <a:lstStyle/>
          <a:p>
            <a:pPr algn="ctr">
              <a:lnSpc>
                <a:spcPts val="10499"/>
              </a:lnSpc>
            </a:pPr>
            <a:r>
              <a:rPr lang="en-US" b="true" sz="9999">
                <a:solidFill>
                  <a:srgbClr val="242F7A"/>
                </a:solidFill>
                <a:latin typeface="Montserrat Bold"/>
                <a:ea typeface="Montserrat Bold"/>
                <a:cs typeface="Montserrat Bold"/>
                <a:sym typeface="Montserrat Bold"/>
              </a:rPr>
              <a:t>OAHU RESTAURANT FINDER</a:t>
            </a:r>
          </a:p>
        </p:txBody>
      </p:sp>
      <p:sp>
        <p:nvSpPr>
          <p:cNvPr name="TextBox 12" id="12"/>
          <p:cNvSpPr txBox="true"/>
          <p:nvPr/>
        </p:nvSpPr>
        <p:spPr>
          <a:xfrm rot="0">
            <a:off x="7712869" y="6802645"/>
            <a:ext cx="2862262" cy="1489710"/>
          </a:xfrm>
          <a:prstGeom prst="rect">
            <a:avLst/>
          </a:prstGeom>
        </p:spPr>
        <p:txBody>
          <a:bodyPr anchor="t" rtlCol="false" tIns="0" lIns="0" bIns="0" rIns="0">
            <a:spAutoFit/>
          </a:bodyPr>
          <a:lstStyle/>
          <a:p>
            <a:pPr algn="ctr">
              <a:lnSpc>
                <a:spcPts val="2940"/>
              </a:lnSpc>
              <a:spcBef>
                <a:spcPct val="0"/>
              </a:spcBef>
            </a:pPr>
            <a:r>
              <a:rPr lang="en-US" b="true" sz="2100">
                <a:solidFill>
                  <a:srgbClr val="242F7A"/>
                </a:solidFill>
                <a:latin typeface="Poppins Medium"/>
                <a:ea typeface="Poppins Medium"/>
                <a:cs typeface="Poppins Medium"/>
                <a:sym typeface="Poppins Medium"/>
              </a:rPr>
              <a:t>CALVIN SMALL</a:t>
            </a:r>
          </a:p>
          <a:p>
            <a:pPr algn="ctr">
              <a:lnSpc>
                <a:spcPts val="2940"/>
              </a:lnSpc>
              <a:spcBef>
                <a:spcPct val="0"/>
              </a:spcBef>
            </a:pPr>
            <a:r>
              <a:rPr lang="en-US" b="true" sz="2100">
                <a:solidFill>
                  <a:srgbClr val="242F7A"/>
                </a:solidFill>
                <a:latin typeface="Poppins Medium"/>
                <a:ea typeface="Poppins Medium"/>
                <a:cs typeface="Poppins Medium"/>
                <a:sym typeface="Poppins Medium"/>
              </a:rPr>
              <a:t>VLAD TOMUTIO</a:t>
            </a:r>
          </a:p>
          <a:p>
            <a:pPr algn="ctr">
              <a:lnSpc>
                <a:spcPts val="2940"/>
              </a:lnSpc>
              <a:spcBef>
                <a:spcPct val="0"/>
              </a:spcBef>
            </a:pPr>
            <a:r>
              <a:rPr lang="en-US" b="true" sz="2100">
                <a:solidFill>
                  <a:srgbClr val="242F7A"/>
                </a:solidFill>
                <a:latin typeface="Poppins Medium"/>
                <a:ea typeface="Poppins Medium"/>
                <a:cs typeface="Poppins Medium"/>
                <a:sym typeface="Poppins Medium"/>
              </a:rPr>
              <a:t>ASHLEY SOFIA ALFARO</a:t>
            </a:r>
          </a:p>
          <a:p>
            <a:pPr algn="ctr">
              <a:lnSpc>
                <a:spcPts val="2940"/>
              </a:lnSpc>
              <a:spcBef>
                <a:spcPct val="0"/>
              </a:spcBef>
            </a:pPr>
            <a:r>
              <a:rPr lang="en-US" b="true" sz="2100">
                <a:solidFill>
                  <a:srgbClr val="242F7A"/>
                </a:solidFill>
                <a:latin typeface="Poppins Medium"/>
                <a:ea typeface="Poppins Medium"/>
                <a:cs typeface="Poppins Medium"/>
                <a:sym typeface="Poppins Medium"/>
              </a:rPr>
              <a:t>JAYCE PASCUA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98814" y="1961102"/>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INTRODUCTION</a:t>
            </a:r>
          </a:p>
        </p:txBody>
      </p:sp>
      <p:sp>
        <p:nvSpPr>
          <p:cNvPr name="TextBox 5" id="5"/>
          <p:cNvSpPr txBox="true"/>
          <p:nvPr/>
        </p:nvSpPr>
        <p:spPr>
          <a:xfrm rot="0">
            <a:off x="2183307" y="4255984"/>
            <a:ext cx="8897717" cy="3488804"/>
          </a:xfrm>
          <a:prstGeom prst="rect">
            <a:avLst/>
          </a:prstGeom>
        </p:spPr>
        <p:txBody>
          <a:bodyPr anchor="t" rtlCol="false" tIns="0" lIns="0" bIns="0" rIns="0">
            <a:spAutoFit/>
          </a:bodyPr>
          <a:lstStyle/>
          <a:p>
            <a:pPr algn="l">
              <a:lnSpc>
                <a:spcPts val="4578"/>
              </a:lnSpc>
            </a:pPr>
            <a:r>
              <a:rPr lang="en-US" sz="3270">
                <a:solidFill>
                  <a:srgbClr val="242F7A"/>
                </a:solidFill>
                <a:latin typeface="Poppins"/>
                <a:ea typeface="Poppins"/>
                <a:cs typeface="Poppins"/>
                <a:sym typeface="Poppins"/>
              </a:rPr>
              <a:t>No matter who we are, we all enjoy having a good meal. With so many options, sometimes the choice of what to have prevents us from getting something we love. To aid users in choosing from various local options, we made this app.</a:t>
            </a:r>
          </a:p>
        </p:txBody>
      </p:sp>
      <p:sp>
        <p:nvSpPr>
          <p:cNvPr name="Freeform 6" id="6"/>
          <p:cNvSpPr/>
          <p:nvPr/>
        </p:nvSpPr>
        <p:spPr>
          <a:xfrm flipH="false" flipV="false" rot="0">
            <a:off x="11681134" y="4278384"/>
            <a:ext cx="4576632" cy="3529727"/>
          </a:xfrm>
          <a:custGeom>
            <a:avLst/>
            <a:gdLst/>
            <a:ahLst/>
            <a:cxnLst/>
            <a:rect r="r" b="b" t="t" l="l"/>
            <a:pathLst>
              <a:path h="3529727" w="4576632">
                <a:moveTo>
                  <a:pt x="0" y="0"/>
                </a:moveTo>
                <a:lnTo>
                  <a:pt x="4576632" y="0"/>
                </a:lnTo>
                <a:lnTo>
                  <a:pt x="4576632" y="3529728"/>
                </a:lnTo>
                <a:lnTo>
                  <a:pt x="0" y="3529728"/>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98814" y="1003709"/>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THE MODELS</a:t>
            </a:r>
          </a:p>
        </p:txBody>
      </p:sp>
      <p:sp>
        <p:nvSpPr>
          <p:cNvPr name="TextBox 5" id="5"/>
          <p:cNvSpPr txBox="true"/>
          <p:nvPr/>
        </p:nvSpPr>
        <p:spPr>
          <a:xfrm rot="0">
            <a:off x="2303926" y="5656629"/>
            <a:ext cx="3780548" cy="2520315"/>
          </a:xfrm>
          <a:prstGeom prst="rect">
            <a:avLst/>
          </a:prstGeom>
        </p:spPr>
        <p:txBody>
          <a:bodyPr anchor="t" rtlCol="false" tIns="0" lIns="0" bIns="0" rIns="0">
            <a:spAutoFit/>
          </a:bodyPr>
          <a:lstStyle/>
          <a:p>
            <a:pPr algn="ctr">
              <a:lnSpc>
                <a:spcPts val="3359"/>
              </a:lnSpc>
            </a:pPr>
            <a:r>
              <a:rPr lang="en-US" sz="2400">
                <a:solidFill>
                  <a:srgbClr val="242F7A"/>
                </a:solidFill>
                <a:latin typeface="Poppins"/>
                <a:ea typeface="Poppins"/>
                <a:cs typeface="Poppins"/>
                <a:sym typeface="Poppins"/>
              </a:rPr>
              <a:t>A directory of all restaurants in Oʻahu. You can filter by location and select a specific restaurant to view more details.</a:t>
            </a:r>
          </a:p>
        </p:txBody>
      </p:sp>
      <p:grpSp>
        <p:nvGrpSpPr>
          <p:cNvPr name="Group 6" id="6"/>
          <p:cNvGrpSpPr/>
          <p:nvPr/>
        </p:nvGrpSpPr>
        <p:grpSpPr>
          <a:xfrm rot="0">
            <a:off x="3606937" y="3488303"/>
            <a:ext cx="1174527" cy="1174527"/>
            <a:chOff x="0" y="0"/>
            <a:chExt cx="1566036" cy="1566036"/>
          </a:xfrm>
        </p:grpSpPr>
        <p:grpSp>
          <p:nvGrpSpPr>
            <p:cNvPr name="Group 7" id="7"/>
            <p:cNvGrpSpPr/>
            <p:nvPr/>
          </p:nvGrpSpPr>
          <p:grpSpPr>
            <a:xfrm rot="0">
              <a:off x="0" y="0"/>
              <a:ext cx="1566036" cy="156603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274D"/>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3552" y="207855"/>
              <a:ext cx="1298932" cy="1064601"/>
            </a:xfrm>
            <a:prstGeom prst="rect">
              <a:avLst/>
            </a:prstGeom>
          </p:spPr>
          <p:txBody>
            <a:bodyPr anchor="t" rtlCol="false" tIns="0" lIns="0" bIns="0" rIns="0">
              <a:spAutoFit/>
            </a:bodyPr>
            <a:lstStyle/>
            <a:p>
              <a:pPr algn="ctr">
                <a:lnSpc>
                  <a:spcPts val="6758"/>
                </a:lnSpc>
              </a:pPr>
              <a:r>
                <a:rPr lang="en-US" b="true" sz="4827">
                  <a:solidFill>
                    <a:srgbClr val="F6F5FF"/>
                  </a:solidFill>
                  <a:latin typeface="Montserrat Bold"/>
                  <a:ea typeface="Montserrat Bold"/>
                  <a:cs typeface="Montserrat Bold"/>
                  <a:sym typeface="Montserrat Bold"/>
                </a:rPr>
                <a:t>01</a:t>
              </a:r>
            </a:p>
          </p:txBody>
        </p:sp>
      </p:grpSp>
      <p:grpSp>
        <p:nvGrpSpPr>
          <p:cNvPr name="Group 11" id="11"/>
          <p:cNvGrpSpPr/>
          <p:nvPr/>
        </p:nvGrpSpPr>
        <p:grpSpPr>
          <a:xfrm rot="0">
            <a:off x="8556737" y="3488303"/>
            <a:ext cx="1174527" cy="1174527"/>
            <a:chOff x="0" y="0"/>
            <a:chExt cx="1566036" cy="1566036"/>
          </a:xfrm>
        </p:grpSpPr>
        <p:grpSp>
          <p:nvGrpSpPr>
            <p:cNvPr name="Group 12" id="12"/>
            <p:cNvGrpSpPr/>
            <p:nvPr/>
          </p:nvGrpSpPr>
          <p:grpSpPr>
            <a:xfrm rot="0">
              <a:off x="0" y="0"/>
              <a:ext cx="1566036" cy="156603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274D"/>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33552" y="207855"/>
              <a:ext cx="1298932" cy="1064601"/>
            </a:xfrm>
            <a:prstGeom prst="rect">
              <a:avLst/>
            </a:prstGeom>
          </p:spPr>
          <p:txBody>
            <a:bodyPr anchor="t" rtlCol="false" tIns="0" lIns="0" bIns="0" rIns="0">
              <a:spAutoFit/>
            </a:bodyPr>
            <a:lstStyle/>
            <a:p>
              <a:pPr algn="ctr">
                <a:lnSpc>
                  <a:spcPts val="6758"/>
                </a:lnSpc>
              </a:pPr>
              <a:r>
                <a:rPr lang="en-US" b="true" sz="4827">
                  <a:solidFill>
                    <a:srgbClr val="F6F5FF"/>
                  </a:solidFill>
                  <a:latin typeface="Montserrat Bold"/>
                  <a:ea typeface="Montserrat Bold"/>
                  <a:cs typeface="Montserrat Bold"/>
                  <a:sym typeface="Montserrat Bold"/>
                </a:rPr>
                <a:t>02</a:t>
              </a:r>
            </a:p>
          </p:txBody>
        </p:sp>
      </p:grpSp>
      <p:grpSp>
        <p:nvGrpSpPr>
          <p:cNvPr name="Group 16" id="16"/>
          <p:cNvGrpSpPr/>
          <p:nvPr/>
        </p:nvGrpSpPr>
        <p:grpSpPr>
          <a:xfrm rot="0">
            <a:off x="13506536" y="3488303"/>
            <a:ext cx="1174527" cy="1174527"/>
            <a:chOff x="0" y="0"/>
            <a:chExt cx="1566036" cy="1566036"/>
          </a:xfrm>
        </p:grpSpPr>
        <p:grpSp>
          <p:nvGrpSpPr>
            <p:cNvPr name="Group 17" id="17"/>
            <p:cNvGrpSpPr/>
            <p:nvPr/>
          </p:nvGrpSpPr>
          <p:grpSpPr>
            <a:xfrm rot="0">
              <a:off x="0" y="0"/>
              <a:ext cx="1566036" cy="156603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274D"/>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33552" y="207855"/>
              <a:ext cx="1298932" cy="1064601"/>
            </a:xfrm>
            <a:prstGeom prst="rect">
              <a:avLst/>
            </a:prstGeom>
          </p:spPr>
          <p:txBody>
            <a:bodyPr anchor="t" rtlCol="false" tIns="0" lIns="0" bIns="0" rIns="0">
              <a:spAutoFit/>
            </a:bodyPr>
            <a:lstStyle/>
            <a:p>
              <a:pPr algn="ctr">
                <a:lnSpc>
                  <a:spcPts val="6758"/>
                </a:lnSpc>
              </a:pPr>
              <a:r>
                <a:rPr lang="en-US" b="true" sz="4827">
                  <a:solidFill>
                    <a:srgbClr val="F6F5FF"/>
                  </a:solidFill>
                  <a:latin typeface="Montserrat Bold"/>
                  <a:ea typeface="Montserrat Bold"/>
                  <a:cs typeface="Montserrat Bold"/>
                  <a:sym typeface="Montserrat Bold"/>
                </a:rPr>
                <a:t>03</a:t>
              </a:r>
            </a:p>
          </p:txBody>
        </p:sp>
      </p:grpSp>
      <p:sp>
        <p:nvSpPr>
          <p:cNvPr name="TextBox 21" id="21"/>
          <p:cNvSpPr txBox="true"/>
          <p:nvPr/>
        </p:nvSpPr>
        <p:spPr>
          <a:xfrm rot="0">
            <a:off x="7253726" y="5657447"/>
            <a:ext cx="3780548" cy="2101215"/>
          </a:xfrm>
          <a:prstGeom prst="rect">
            <a:avLst/>
          </a:prstGeom>
        </p:spPr>
        <p:txBody>
          <a:bodyPr anchor="t" rtlCol="false" tIns="0" lIns="0" bIns="0" rIns="0">
            <a:spAutoFit/>
          </a:bodyPr>
          <a:lstStyle/>
          <a:p>
            <a:pPr algn="ctr">
              <a:lnSpc>
                <a:spcPts val="3359"/>
              </a:lnSpc>
            </a:pPr>
            <a:r>
              <a:rPr lang="en-US" sz="2400">
                <a:solidFill>
                  <a:srgbClr val="242F7A"/>
                </a:solidFill>
                <a:latin typeface="Poppins"/>
                <a:ea typeface="Poppins"/>
                <a:cs typeface="Poppins"/>
                <a:sym typeface="Poppins"/>
              </a:rPr>
              <a:t>Where you can view reviews for all restaurants. You can sort them by rating or alphabetically. </a:t>
            </a:r>
          </a:p>
        </p:txBody>
      </p:sp>
      <p:sp>
        <p:nvSpPr>
          <p:cNvPr name="TextBox 22" id="22"/>
          <p:cNvSpPr txBox="true"/>
          <p:nvPr/>
        </p:nvSpPr>
        <p:spPr>
          <a:xfrm rot="0">
            <a:off x="2441726" y="4792577"/>
            <a:ext cx="3504948" cy="597353"/>
          </a:xfrm>
          <a:prstGeom prst="rect">
            <a:avLst/>
          </a:prstGeom>
        </p:spPr>
        <p:txBody>
          <a:bodyPr anchor="t" rtlCol="false" tIns="0" lIns="0" bIns="0" rIns="0">
            <a:spAutoFit/>
          </a:bodyPr>
          <a:lstStyle/>
          <a:p>
            <a:pPr algn="ctr">
              <a:lnSpc>
                <a:spcPts val="4875"/>
              </a:lnSpc>
            </a:pPr>
            <a:r>
              <a:rPr lang="en-US" sz="3482" b="true">
                <a:solidFill>
                  <a:srgbClr val="242F7A"/>
                </a:solidFill>
                <a:latin typeface="Montserrat Bold"/>
                <a:ea typeface="Montserrat Bold"/>
                <a:cs typeface="Montserrat Bold"/>
                <a:sym typeface="Montserrat Bold"/>
              </a:rPr>
              <a:t>RESTAURANTS</a:t>
            </a:r>
          </a:p>
        </p:txBody>
      </p:sp>
      <p:sp>
        <p:nvSpPr>
          <p:cNvPr name="TextBox 23" id="23"/>
          <p:cNvSpPr txBox="true"/>
          <p:nvPr/>
        </p:nvSpPr>
        <p:spPr>
          <a:xfrm rot="0">
            <a:off x="7391526" y="4792577"/>
            <a:ext cx="3504948" cy="597353"/>
          </a:xfrm>
          <a:prstGeom prst="rect">
            <a:avLst/>
          </a:prstGeom>
        </p:spPr>
        <p:txBody>
          <a:bodyPr anchor="t" rtlCol="false" tIns="0" lIns="0" bIns="0" rIns="0">
            <a:spAutoFit/>
          </a:bodyPr>
          <a:lstStyle/>
          <a:p>
            <a:pPr algn="ctr">
              <a:lnSpc>
                <a:spcPts val="4875"/>
              </a:lnSpc>
            </a:pPr>
            <a:r>
              <a:rPr lang="en-US" sz="3482" b="true">
                <a:solidFill>
                  <a:srgbClr val="242F7A"/>
                </a:solidFill>
                <a:latin typeface="Montserrat Bold"/>
                <a:ea typeface="Montserrat Bold"/>
                <a:cs typeface="Montserrat Bold"/>
                <a:sym typeface="Montserrat Bold"/>
              </a:rPr>
              <a:t>REVIEWS</a:t>
            </a:r>
          </a:p>
        </p:txBody>
      </p:sp>
      <p:sp>
        <p:nvSpPr>
          <p:cNvPr name="TextBox 24" id="24"/>
          <p:cNvSpPr txBox="true"/>
          <p:nvPr/>
        </p:nvSpPr>
        <p:spPr>
          <a:xfrm rot="0">
            <a:off x="12341326" y="4792577"/>
            <a:ext cx="3504948" cy="597353"/>
          </a:xfrm>
          <a:prstGeom prst="rect">
            <a:avLst/>
          </a:prstGeom>
        </p:spPr>
        <p:txBody>
          <a:bodyPr anchor="t" rtlCol="false" tIns="0" lIns="0" bIns="0" rIns="0">
            <a:spAutoFit/>
          </a:bodyPr>
          <a:lstStyle/>
          <a:p>
            <a:pPr algn="ctr">
              <a:lnSpc>
                <a:spcPts val="4875"/>
              </a:lnSpc>
            </a:pPr>
            <a:r>
              <a:rPr lang="en-US" sz="3482" b="true">
                <a:solidFill>
                  <a:srgbClr val="242F7A"/>
                </a:solidFill>
                <a:latin typeface="Montserrat Bold"/>
                <a:ea typeface="Montserrat Bold"/>
                <a:cs typeface="Montserrat Bold"/>
                <a:sym typeface="Montserrat Bold"/>
              </a:rPr>
              <a:t>PREFERENCES</a:t>
            </a:r>
          </a:p>
        </p:txBody>
      </p:sp>
      <p:sp>
        <p:nvSpPr>
          <p:cNvPr name="TextBox 25" id="25"/>
          <p:cNvSpPr txBox="true"/>
          <p:nvPr/>
        </p:nvSpPr>
        <p:spPr>
          <a:xfrm rot="0">
            <a:off x="12203526" y="5656629"/>
            <a:ext cx="3780548" cy="2101215"/>
          </a:xfrm>
          <a:prstGeom prst="rect">
            <a:avLst/>
          </a:prstGeom>
        </p:spPr>
        <p:txBody>
          <a:bodyPr anchor="t" rtlCol="false" tIns="0" lIns="0" bIns="0" rIns="0">
            <a:spAutoFit/>
          </a:bodyPr>
          <a:lstStyle/>
          <a:p>
            <a:pPr algn="ctr">
              <a:lnSpc>
                <a:spcPts val="3359"/>
              </a:lnSpc>
            </a:pPr>
            <a:r>
              <a:rPr lang="en-US" sz="2400">
                <a:solidFill>
                  <a:srgbClr val="242F7A"/>
                </a:solidFill>
                <a:latin typeface="Poppins"/>
                <a:ea typeface="Poppins"/>
                <a:cs typeface="Poppins"/>
                <a:sym typeface="Poppins"/>
              </a:rPr>
              <a:t>You can select multiple preferences, and it will return the restaurant that fits all of them (if one exists).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4248" y="3091193"/>
            <a:ext cx="7779752" cy="5832094"/>
          </a:xfrm>
          <a:custGeom>
            <a:avLst/>
            <a:gdLst/>
            <a:ahLst/>
            <a:cxnLst/>
            <a:rect r="r" b="b" t="t" l="l"/>
            <a:pathLst>
              <a:path h="5832094" w="7779752">
                <a:moveTo>
                  <a:pt x="0" y="0"/>
                </a:moveTo>
                <a:lnTo>
                  <a:pt x="7779752" y="0"/>
                </a:lnTo>
                <a:lnTo>
                  <a:pt x="7779752" y="5832094"/>
                </a:lnTo>
                <a:lnTo>
                  <a:pt x="0" y="5832094"/>
                </a:lnTo>
                <a:lnTo>
                  <a:pt x="0" y="0"/>
                </a:lnTo>
                <a:close/>
              </a:path>
            </a:pathLst>
          </a:custGeom>
          <a:blipFill>
            <a:blip r:embed="rId4"/>
            <a:stretch>
              <a:fillRect l="0" t="0" r="0" b="0"/>
            </a:stretch>
          </a:blipFill>
        </p:spPr>
      </p:sp>
      <p:sp>
        <p:nvSpPr>
          <p:cNvPr name="TextBox 5" id="5"/>
          <p:cNvSpPr txBox="true"/>
          <p:nvPr/>
        </p:nvSpPr>
        <p:spPr>
          <a:xfrm rot="0">
            <a:off x="3798814" y="1100348"/>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API</a:t>
            </a:r>
          </a:p>
        </p:txBody>
      </p:sp>
      <p:sp>
        <p:nvSpPr>
          <p:cNvPr name="TextBox 6" id="6"/>
          <p:cNvSpPr txBox="true"/>
          <p:nvPr/>
        </p:nvSpPr>
        <p:spPr>
          <a:xfrm rot="0">
            <a:off x="9785257" y="3005468"/>
            <a:ext cx="6154658" cy="2491105"/>
          </a:xfrm>
          <a:prstGeom prst="rect">
            <a:avLst/>
          </a:prstGeom>
        </p:spPr>
        <p:txBody>
          <a:bodyPr anchor="t" rtlCol="false" tIns="0" lIns="0" bIns="0" rIns="0">
            <a:spAutoFit/>
          </a:bodyPr>
          <a:lstStyle/>
          <a:p>
            <a:pPr algn="l">
              <a:lnSpc>
                <a:spcPts val="3919"/>
              </a:lnSpc>
            </a:pPr>
            <a:r>
              <a:rPr lang="en-US" sz="2799">
                <a:solidFill>
                  <a:srgbClr val="242F7A"/>
                </a:solidFill>
                <a:latin typeface="Poppins"/>
                <a:ea typeface="Poppins"/>
                <a:cs typeface="Poppins"/>
                <a:sym typeface="Poppins"/>
              </a:rPr>
              <a:t>Our API runs off of Flask and Python and supports the entire application’s endpoints as well as several background functions </a:t>
            </a:r>
          </a:p>
          <a:p>
            <a:pPr algn="just">
              <a:lnSpc>
                <a:spcPts val="39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91155" y="3469172"/>
            <a:ext cx="4062730" cy="5326259"/>
          </a:xfrm>
          <a:custGeom>
            <a:avLst/>
            <a:gdLst/>
            <a:ahLst/>
            <a:cxnLst/>
            <a:rect r="r" b="b" t="t" l="l"/>
            <a:pathLst>
              <a:path h="5326259" w="4062730">
                <a:moveTo>
                  <a:pt x="0" y="0"/>
                </a:moveTo>
                <a:lnTo>
                  <a:pt x="4062730" y="0"/>
                </a:lnTo>
                <a:lnTo>
                  <a:pt x="4062730" y="5326259"/>
                </a:lnTo>
                <a:lnTo>
                  <a:pt x="0" y="5326259"/>
                </a:lnTo>
                <a:lnTo>
                  <a:pt x="0" y="0"/>
                </a:lnTo>
                <a:close/>
              </a:path>
            </a:pathLst>
          </a:custGeom>
          <a:blipFill>
            <a:blip r:embed="rId4"/>
            <a:stretch>
              <a:fillRect l="0" t="0" r="0" b="0"/>
            </a:stretch>
          </a:blipFill>
        </p:spPr>
      </p:sp>
      <p:sp>
        <p:nvSpPr>
          <p:cNvPr name="TextBox 5" id="5"/>
          <p:cNvSpPr txBox="true"/>
          <p:nvPr/>
        </p:nvSpPr>
        <p:spPr>
          <a:xfrm rot="0">
            <a:off x="3798814" y="1329644"/>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FRONT-END</a:t>
            </a:r>
          </a:p>
        </p:txBody>
      </p:sp>
      <p:sp>
        <p:nvSpPr>
          <p:cNvPr name="TextBox 6" id="6"/>
          <p:cNvSpPr txBox="true"/>
          <p:nvPr/>
        </p:nvSpPr>
        <p:spPr>
          <a:xfrm rot="0">
            <a:off x="1841741" y="3605603"/>
            <a:ext cx="7302259" cy="4967673"/>
          </a:xfrm>
          <a:prstGeom prst="rect">
            <a:avLst/>
          </a:prstGeom>
        </p:spPr>
        <p:txBody>
          <a:bodyPr anchor="t" rtlCol="false" tIns="0" lIns="0" bIns="0" rIns="0">
            <a:spAutoFit/>
          </a:bodyPr>
          <a:lstStyle/>
          <a:p>
            <a:pPr algn="l" marL="603940" indent="-301970" lvl="1">
              <a:lnSpc>
                <a:spcPts val="3916"/>
              </a:lnSpc>
              <a:buFont typeface="Arial"/>
              <a:buChar char="•"/>
            </a:pPr>
            <a:r>
              <a:rPr lang="en-US" sz="2797">
                <a:solidFill>
                  <a:srgbClr val="242F7A"/>
                </a:solidFill>
                <a:latin typeface="Poppins"/>
                <a:ea typeface="Poppins"/>
                <a:cs typeface="Poppins"/>
                <a:sym typeface="Poppins"/>
              </a:rPr>
              <a:t>Built using </a:t>
            </a:r>
            <a:r>
              <a:rPr lang="en-US" b="true" sz="2797">
                <a:solidFill>
                  <a:srgbClr val="242F7A"/>
                </a:solidFill>
                <a:latin typeface="Poppins Medium"/>
                <a:ea typeface="Poppins Medium"/>
                <a:cs typeface="Poppins Medium"/>
                <a:sym typeface="Poppins Medium"/>
              </a:rPr>
              <a:t>HTML</a:t>
            </a:r>
            <a:r>
              <a:rPr lang="en-US" sz="2797">
                <a:solidFill>
                  <a:srgbClr val="242F7A"/>
                </a:solidFill>
                <a:latin typeface="Poppins"/>
                <a:ea typeface="Poppins"/>
                <a:cs typeface="Poppins"/>
                <a:sym typeface="Poppins"/>
              </a:rPr>
              <a:t>, </a:t>
            </a:r>
            <a:r>
              <a:rPr lang="en-US" b="true" sz="2797">
                <a:solidFill>
                  <a:srgbClr val="242F7A"/>
                </a:solidFill>
                <a:latin typeface="Poppins Medium"/>
                <a:ea typeface="Poppins Medium"/>
                <a:cs typeface="Poppins Medium"/>
                <a:sym typeface="Poppins Medium"/>
              </a:rPr>
              <a:t>CSS</a:t>
            </a:r>
            <a:r>
              <a:rPr lang="en-US" sz="2797">
                <a:solidFill>
                  <a:srgbClr val="242F7A"/>
                </a:solidFill>
                <a:latin typeface="Poppins"/>
                <a:ea typeface="Poppins"/>
                <a:cs typeface="Poppins"/>
                <a:sym typeface="Poppins"/>
              </a:rPr>
              <a:t> (Bootstrap), and </a:t>
            </a:r>
            <a:r>
              <a:rPr lang="en-US" b="true" sz="2797">
                <a:solidFill>
                  <a:srgbClr val="242F7A"/>
                </a:solidFill>
                <a:latin typeface="Poppins Medium"/>
                <a:ea typeface="Poppins Medium"/>
                <a:cs typeface="Poppins Medium"/>
                <a:sym typeface="Poppins Medium"/>
              </a:rPr>
              <a:t>Flask templates</a:t>
            </a:r>
          </a:p>
          <a:p>
            <a:pPr algn="l" marL="603940" indent="-301970" lvl="1">
              <a:lnSpc>
                <a:spcPts val="3916"/>
              </a:lnSpc>
              <a:buFont typeface="Arial"/>
              <a:buChar char="•"/>
            </a:pPr>
            <a:r>
              <a:rPr lang="en-US" sz="2797">
                <a:solidFill>
                  <a:srgbClr val="242F7A"/>
                </a:solidFill>
                <a:latin typeface="Poppins"/>
                <a:ea typeface="Poppins"/>
                <a:cs typeface="Poppins"/>
                <a:sym typeface="Poppins"/>
              </a:rPr>
              <a:t>Dynamic content rendered using </a:t>
            </a:r>
            <a:r>
              <a:rPr lang="en-US" b="true" sz="2797">
                <a:solidFill>
                  <a:srgbClr val="242F7A"/>
                </a:solidFill>
                <a:latin typeface="Poppins Medium"/>
                <a:ea typeface="Poppins Medium"/>
                <a:cs typeface="Poppins Medium"/>
                <a:sym typeface="Poppins Medium"/>
              </a:rPr>
              <a:t>Jinja</a:t>
            </a:r>
            <a:r>
              <a:rPr lang="en-US" sz="2797">
                <a:solidFill>
                  <a:srgbClr val="242F7A"/>
                </a:solidFill>
                <a:latin typeface="Poppins"/>
                <a:ea typeface="Poppins"/>
                <a:cs typeface="Poppins"/>
                <a:sym typeface="Poppins"/>
              </a:rPr>
              <a:t> </a:t>
            </a:r>
          </a:p>
          <a:p>
            <a:pPr algn="l" marL="603940" indent="-301970" lvl="1">
              <a:lnSpc>
                <a:spcPts val="3916"/>
              </a:lnSpc>
              <a:buFont typeface="Arial"/>
              <a:buChar char="•"/>
            </a:pPr>
            <a:r>
              <a:rPr lang="en-US" sz="2797">
                <a:solidFill>
                  <a:srgbClr val="242F7A"/>
                </a:solidFill>
                <a:latin typeface="Poppins"/>
                <a:ea typeface="Poppins"/>
                <a:cs typeface="Poppins"/>
                <a:sym typeface="Poppins"/>
              </a:rPr>
              <a:t>Organized into </a:t>
            </a:r>
            <a:r>
              <a:rPr lang="en-US" b="true" sz="2797">
                <a:solidFill>
                  <a:srgbClr val="242F7A"/>
                </a:solidFill>
                <a:latin typeface="Poppins Medium"/>
                <a:ea typeface="Poppins Medium"/>
                <a:cs typeface="Poppins Medium"/>
                <a:sym typeface="Poppins Medium"/>
              </a:rPr>
              <a:t>separate templates</a:t>
            </a:r>
            <a:r>
              <a:rPr lang="en-US" sz="2797">
                <a:solidFill>
                  <a:srgbClr val="242F7A"/>
                </a:solidFill>
                <a:latin typeface="Poppins"/>
                <a:ea typeface="Poppins"/>
                <a:cs typeface="Poppins"/>
                <a:sym typeface="Poppins"/>
              </a:rPr>
              <a:t> with a </a:t>
            </a:r>
            <a:r>
              <a:rPr lang="en-US" b="true" sz="2797">
                <a:solidFill>
                  <a:srgbClr val="242F7A"/>
                </a:solidFill>
                <a:latin typeface="Poppins Medium"/>
                <a:ea typeface="Poppins Medium"/>
                <a:cs typeface="Poppins Medium"/>
                <a:sym typeface="Poppins Medium"/>
              </a:rPr>
              <a:t>shared navbar</a:t>
            </a:r>
            <a:r>
              <a:rPr lang="en-US" sz="2797">
                <a:solidFill>
                  <a:srgbClr val="242F7A"/>
                </a:solidFill>
                <a:latin typeface="Poppins"/>
                <a:ea typeface="Poppins"/>
                <a:cs typeface="Poppins"/>
                <a:sym typeface="Poppins"/>
              </a:rPr>
              <a:t> </a:t>
            </a:r>
          </a:p>
          <a:p>
            <a:pPr algn="l" marL="603940" indent="-301970" lvl="1">
              <a:lnSpc>
                <a:spcPts val="3916"/>
              </a:lnSpc>
              <a:buFont typeface="Arial"/>
              <a:buChar char="•"/>
            </a:pPr>
            <a:r>
              <a:rPr lang="en-US" sz="2797">
                <a:solidFill>
                  <a:srgbClr val="242F7A"/>
                </a:solidFill>
                <a:latin typeface="Poppins"/>
                <a:ea typeface="Poppins"/>
                <a:cs typeface="Poppins"/>
                <a:sym typeface="Poppins"/>
              </a:rPr>
              <a:t>Card-based UI for displaying restaurant and review information</a:t>
            </a:r>
          </a:p>
          <a:p>
            <a:pPr algn="l" marL="603940" indent="-301970" lvl="1">
              <a:lnSpc>
                <a:spcPts val="3916"/>
              </a:lnSpc>
              <a:buFont typeface="Arial"/>
              <a:buChar char="•"/>
            </a:pPr>
            <a:r>
              <a:rPr lang="en-US" sz="2797">
                <a:solidFill>
                  <a:srgbClr val="242F7A"/>
                </a:solidFill>
                <a:latin typeface="Poppins"/>
                <a:ea typeface="Poppins"/>
                <a:cs typeface="Poppins"/>
                <a:sym typeface="Poppins"/>
              </a:rPr>
              <a:t>Interactive filtering </a:t>
            </a:r>
          </a:p>
          <a:p>
            <a:pPr algn="l" marL="603940" indent="-301970" lvl="1">
              <a:lnSpc>
                <a:spcPts val="3916"/>
              </a:lnSpc>
              <a:buFont typeface="Arial"/>
              <a:buChar char="•"/>
            </a:pPr>
            <a:r>
              <a:rPr lang="en-US" sz="2797">
                <a:solidFill>
                  <a:srgbClr val="242F7A"/>
                </a:solidFill>
                <a:latin typeface="Poppins"/>
                <a:ea typeface="Poppins"/>
                <a:cs typeface="Poppins"/>
                <a:sym typeface="Poppins"/>
              </a:rPr>
              <a:t>Consistent styling across pages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98814" y="1547151"/>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CHALLENGES</a:t>
            </a:r>
          </a:p>
        </p:txBody>
      </p:sp>
      <p:sp>
        <p:nvSpPr>
          <p:cNvPr name="TextBox 5" id="5"/>
          <p:cNvSpPr txBox="true"/>
          <p:nvPr/>
        </p:nvSpPr>
        <p:spPr>
          <a:xfrm rot="0">
            <a:off x="2389590" y="4149997"/>
            <a:ext cx="13508820" cy="267652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242F7A"/>
                </a:solidFill>
                <a:latin typeface="Poppins Semi-Bold"/>
                <a:ea typeface="Poppins Semi-Bold"/>
                <a:cs typeface="Poppins Semi-Bold"/>
                <a:sym typeface="Poppins Semi-Bold"/>
              </a:rPr>
              <a:t>Data Gathering:</a:t>
            </a:r>
            <a:r>
              <a:rPr lang="en-US" sz="3000">
                <a:solidFill>
                  <a:srgbClr val="242F7A"/>
                </a:solidFill>
                <a:latin typeface="Poppins"/>
                <a:ea typeface="Poppins"/>
                <a:cs typeface="Poppins"/>
                <a:sym typeface="Poppins"/>
              </a:rPr>
              <a:t> Yelp API</a:t>
            </a:r>
          </a:p>
          <a:p>
            <a:pPr algn="l" marL="647700" indent="-323850" lvl="1">
              <a:lnSpc>
                <a:spcPts val="4200"/>
              </a:lnSpc>
              <a:buFont typeface="Arial"/>
              <a:buChar char="•"/>
            </a:pPr>
            <a:r>
              <a:rPr lang="en-US" b="true" sz="3000">
                <a:solidFill>
                  <a:srgbClr val="242F7A"/>
                </a:solidFill>
                <a:latin typeface="Poppins Semi-Bold"/>
                <a:ea typeface="Poppins Semi-Bold"/>
                <a:cs typeface="Poppins Semi-Bold"/>
                <a:sym typeface="Poppins Semi-Bold"/>
              </a:rPr>
              <a:t>Code Collaboration:</a:t>
            </a:r>
            <a:r>
              <a:rPr lang="en-US" sz="3000">
                <a:solidFill>
                  <a:srgbClr val="242F7A"/>
                </a:solidFill>
                <a:latin typeface="Poppins"/>
                <a:ea typeface="Poppins"/>
                <a:cs typeface="Poppins"/>
                <a:sym typeface="Poppins"/>
              </a:rPr>
              <a:t> Pushing and pulling from GitHub and dealing with merge conflicts</a:t>
            </a:r>
          </a:p>
          <a:p>
            <a:pPr algn="l" marL="647700" indent="-323850" lvl="1">
              <a:lnSpc>
                <a:spcPts val="4200"/>
              </a:lnSpc>
              <a:buFont typeface="Arial"/>
              <a:buChar char="•"/>
            </a:pPr>
            <a:r>
              <a:rPr lang="en-US" b="true" sz="3000">
                <a:solidFill>
                  <a:srgbClr val="242F7A"/>
                </a:solidFill>
                <a:latin typeface="Poppins Bold"/>
                <a:ea typeface="Poppins Bold"/>
                <a:cs typeface="Poppins Bold"/>
                <a:sym typeface="Poppins Bold"/>
              </a:rPr>
              <a:t>Learning New Languages </a:t>
            </a:r>
            <a:r>
              <a:rPr lang="en-US" sz="3000">
                <a:solidFill>
                  <a:srgbClr val="242F7A"/>
                </a:solidFill>
                <a:latin typeface="Poppins"/>
                <a:ea typeface="Poppins"/>
                <a:cs typeface="Poppins"/>
                <a:sym typeface="Poppins"/>
              </a:rPr>
              <a:t>Some Javascript and Jinja2 were needed for this project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2185056" y="-2933785"/>
            <a:ext cx="5423831" cy="4642862"/>
          </a:xfrm>
          <a:custGeom>
            <a:avLst/>
            <a:gdLst/>
            <a:ahLst/>
            <a:cxnLst/>
            <a:rect r="r" b="b" t="t" l="l"/>
            <a:pathLst>
              <a:path h="4642862" w="5423831">
                <a:moveTo>
                  <a:pt x="0" y="0"/>
                </a:moveTo>
                <a:lnTo>
                  <a:pt x="5423831" y="0"/>
                </a:lnTo>
                <a:lnTo>
                  <a:pt x="5423831" y="4642861"/>
                </a:lnTo>
                <a:lnTo>
                  <a:pt x="0" y="4642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89186" y="8329344"/>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98814" y="3798040"/>
            <a:ext cx="10690372" cy="1529114"/>
          </a:xfrm>
          <a:prstGeom prst="rect">
            <a:avLst/>
          </a:prstGeom>
        </p:spPr>
        <p:txBody>
          <a:bodyPr anchor="t" rtlCol="false" tIns="0" lIns="0" bIns="0" rIns="0">
            <a:spAutoFit/>
          </a:bodyPr>
          <a:lstStyle/>
          <a:p>
            <a:pPr algn="ctr">
              <a:lnSpc>
                <a:spcPts val="12586"/>
              </a:lnSpc>
            </a:pPr>
            <a:r>
              <a:rPr lang="en-US" b="true" sz="8990">
                <a:solidFill>
                  <a:srgbClr val="242F7A"/>
                </a:solidFill>
                <a:latin typeface="Montserrat Bold"/>
                <a:ea typeface="Montserrat Bold"/>
                <a:cs typeface="Montserrat Bold"/>
                <a:sym typeface="Montserrat Bold"/>
              </a:rPr>
              <a:t>WEBSITE DEMO</a:t>
            </a:r>
          </a:p>
        </p:txBody>
      </p:sp>
      <p:sp>
        <p:nvSpPr>
          <p:cNvPr name="TextBox 5" id="5"/>
          <p:cNvSpPr txBox="true"/>
          <p:nvPr/>
        </p:nvSpPr>
        <p:spPr>
          <a:xfrm rot="0">
            <a:off x="5291678" y="5766924"/>
            <a:ext cx="7704644" cy="560111"/>
          </a:xfrm>
          <a:prstGeom prst="rect">
            <a:avLst/>
          </a:prstGeom>
        </p:spPr>
        <p:txBody>
          <a:bodyPr anchor="t" rtlCol="false" tIns="0" lIns="0" bIns="0" rIns="0">
            <a:spAutoFit/>
          </a:bodyPr>
          <a:lstStyle/>
          <a:p>
            <a:pPr algn="ctr">
              <a:lnSpc>
                <a:spcPts val="4302"/>
              </a:lnSpc>
            </a:pPr>
            <a:r>
              <a:rPr lang="en-US" sz="3073" u="sng">
                <a:solidFill>
                  <a:srgbClr val="242F7A"/>
                </a:solidFill>
                <a:latin typeface="Poppins"/>
                <a:ea typeface="Poppins"/>
                <a:cs typeface="Poppins"/>
                <a:sym typeface="Poppins"/>
                <a:hlinkClick r:id="rId4" tooltip="http://127.0.0.1:5000"/>
              </a:rPr>
              <a:t>http://127.0.0.1:5000/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BFF"/>
        </a:solidFill>
      </p:bgPr>
    </p:bg>
    <p:spTree>
      <p:nvGrpSpPr>
        <p:cNvPr id="1" name=""/>
        <p:cNvGrpSpPr/>
        <p:nvPr/>
      </p:nvGrpSpPr>
      <p:grpSpPr>
        <a:xfrm>
          <a:off x="0" y="0"/>
          <a:ext cx="0" cy="0"/>
          <a:chOff x="0" y="0"/>
          <a:chExt cx="0" cy="0"/>
        </a:xfrm>
      </p:grpSpPr>
      <p:sp>
        <p:nvSpPr>
          <p:cNvPr name="Freeform 2" id="2"/>
          <p:cNvSpPr/>
          <p:nvPr/>
        </p:nvSpPr>
        <p:spPr>
          <a:xfrm flipH="false" flipV="false" rot="0">
            <a:off x="-3988630" y="-1106292"/>
            <a:ext cx="6502191" cy="5565951"/>
          </a:xfrm>
          <a:custGeom>
            <a:avLst/>
            <a:gdLst/>
            <a:ahLst/>
            <a:cxnLst/>
            <a:rect r="r" b="b" t="t" l="l"/>
            <a:pathLst>
              <a:path h="5565951" w="6502191">
                <a:moveTo>
                  <a:pt x="0" y="0"/>
                </a:moveTo>
                <a:lnTo>
                  <a:pt x="6502191" y="0"/>
                </a:lnTo>
                <a:lnTo>
                  <a:pt x="6502191" y="5565951"/>
                </a:lnTo>
                <a:lnTo>
                  <a:pt x="0" y="5565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36401" y="7504025"/>
            <a:ext cx="6502191" cy="5565951"/>
          </a:xfrm>
          <a:custGeom>
            <a:avLst/>
            <a:gdLst/>
            <a:ahLst/>
            <a:cxnLst/>
            <a:rect r="r" b="b" t="t" l="l"/>
            <a:pathLst>
              <a:path h="5565951" w="6502191">
                <a:moveTo>
                  <a:pt x="0" y="0"/>
                </a:moveTo>
                <a:lnTo>
                  <a:pt x="6502191" y="0"/>
                </a:lnTo>
                <a:lnTo>
                  <a:pt x="6502191" y="5565950"/>
                </a:lnTo>
                <a:lnTo>
                  <a:pt x="0" y="5565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72393" y="8088707"/>
            <a:ext cx="4541060" cy="2339185"/>
          </a:xfrm>
          <a:custGeom>
            <a:avLst/>
            <a:gdLst/>
            <a:ahLst/>
            <a:cxnLst/>
            <a:rect r="r" b="b" t="t" l="l"/>
            <a:pathLst>
              <a:path h="2339185" w="4541060">
                <a:moveTo>
                  <a:pt x="0" y="0"/>
                </a:moveTo>
                <a:lnTo>
                  <a:pt x="4541060" y="0"/>
                </a:lnTo>
                <a:lnTo>
                  <a:pt x="4541060" y="2339186"/>
                </a:lnTo>
                <a:lnTo>
                  <a:pt x="0" y="2339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16967" y="-140893"/>
            <a:ext cx="4541060" cy="2339185"/>
          </a:xfrm>
          <a:custGeom>
            <a:avLst/>
            <a:gdLst/>
            <a:ahLst/>
            <a:cxnLst/>
            <a:rect r="r" b="b" t="t" l="l"/>
            <a:pathLst>
              <a:path h="2339185" w="4541060">
                <a:moveTo>
                  <a:pt x="0" y="0"/>
                </a:moveTo>
                <a:lnTo>
                  <a:pt x="4541059" y="0"/>
                </a:lnTo>
                <a:lnTo>
                  <a:pt x="4541059" y="2339186"/>
                </a:lnTo>
                <a:lnTo>
                  <a:pt x="0" y="23391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6" id="6"/>
          <p:cNvSpPr/>
          <p:nvPr/>
        </p:nvSpPr>
        <p:spPr>
          <a:xfrm flipV="true">
            <a:off x="-1943723" y="9744413"/>
            <a:ext cx="6138532" cy="0"/>
          </a:xfrm>
          <a:prstGeom prst="line">
            <a:avLst/>
          </a:prstGeom>
          <a:ln cap="flat" w="38100">
            <a:solidFill>
              <a:srgbClr val="1E274D"/>
            </a:solidFill>
            <a:prstDash val="solid"/>
            <a:headEnd type="none" len="sm" w="sm"/>
            <a:tailEnd type="oval" len="lg" w="lg"/>
          </a:ln>
        </p:spPr>
      </p:sp>
      <p:sp>
        <p:nvSpPr>
          <p:cNvPr name="AutoShape 7" id="7"/>
          <p:cNvSpPr/>
          <p:nvPr/>
        </p:nvSpPr>
        <p:spPr>
          <a:xfrm>
            <a:off x="13261777" y="542587"/>
            <a:ext cx="6969946" cy="0"/>
          </a:xfrm>
          <a:prstGeom prst="line">
            <a:avLst/>
          </a:prstGeom>
          <a:ln cap="flat" w="38100">
            <a:solidFill>
              <a:srgbClr val="1E274D"/>
            </a:solidFill>
            <a:prstDash val="solid"/>
            <a:headEnd type="oval" len="lg" w="lg"/>
            <a:tailEnd type="none" len="sm" w="sm"/>
          </a:ln>
        </p:spPr>
      </p:sp>
      <p:sp>
        <p:nvSpPr>
          <p:cNvPr name="TextBox 8" id="8"/>
          <p:cNvSpPr txBox="true"/>
          <p:nvPr/>
        </p:nvSpPr>
        <p:spPr>
          <a:xfrm rot="0">
            <a:off x="2251569" y="4042960"/>
            <a:ext cx="13784861" cy="1982005"/>
          </a:xfrm>
          <a:prstGeom prst="rect">
            <a:avLst/>
          </a:prstGeom>
        </p:spPr>
        <p:txBody>
          <a:bodyPr anchor="t" rtlCol="false" tIns="0" lIns="0" bIns="0" rIns="0">
            <a:spAutoFit/>
          </a:bodyPr>
          <a:lstStyle/>
          <a:p>
            <a:pPr algn="ctr">
              <a:lnSpc>
                <a:spcPts val="16229"/>
              </a:lnSpc>
            </a:pPr>
            <a:r>
              <a:rPr lang="en-US" b="true" sz="11592">
                <a:solidFill>
                  <a:srgbClr val="242F7A"/>
                </a:solidFill>
                <a:latin typeface="Montserrat Bold"/>
                <a:ea typeface="Montserrat Bold"/>
                <a:cs typeface="Montserrat Bold"/>
                <a:sym typeface="Montserrat Bold"/>
              </a:rPr>
              <a:t>THA</a:t>
            </a:r>
            <a:r>
              <a:rPr lang="en-US" b="true" sz="11592">
                <a:solidFill>
                  <a:srgbClr val="242F7A"/>
                </a:solidFill>
                <a:latin typeface="Montserrat Bold"/>
                <a:ea typeface="Montserrat Bold"/>
                <a:cs typeface="Montserrat Bold"/>
                <a:sym typeface="Montserrat Bold"/>
              </a:rPr>
              <a:t>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DAHIEvXBDOM</dc:identifier>
  <dcterms:modified xsi:type="dcterms:W3CDTF">2011-08-01T06:04:30Z</dcterms:modified>
  <cp:revision>1</cp:revision>
  <dc:title>CS401_Project</dc:title>
</cp:coreProperties>
</file>